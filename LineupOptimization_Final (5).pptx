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8115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6400800" cy="5143500"/>
          </a:xfrm>
          <a:prstGeom prst="rect">
            <a:avLst/>
          </a:prstGeom>
          <a:solidFill>
            <a:srgbClr val="071007">
              <a:alpha val="70000"/>
            </a:srgbClr>
          </a:solidFill>
          <a:ln w="12700">
            <a:solidFill>
              <a:srgbClr val="071007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6" name="Shape 3"/>
          <p:cNvSpPr/>
          <p:nvPr/>
        </p:nvSpPr>
        <p:spPr>
          <a:xfrm>
            <a:off x="0" y="4809744"/>
            <a:ext cx="9144000" cy="64008"/>
          </a:xfrm>
          <a:prstGeom prst="rect">
            <a:avLst/>
          </a:prstGeom>
          <a:solidFill>
            <a:srgbClr val="B87040"/>
          </a:solidFill>
          <a:ln w="12700">
            <a:solidFill>
              <a:srgbClr val="B87040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7" name="Text 4"/>
          <p:cNvSpPr/>
          <p:nvPr/>
        </p:nvSpPr>
        <p:spPr>
          <a:xfrm>
            <a:off x="502920" y="475488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1500" i="1" kern="0" spc="300" dirty="0">
                <a:solidFill>
                  <a:srgbClr val="A8D5A2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Baseball &amp; Softball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896112"/>
            <a:ext cx="5852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Lineup Optimization</a:t>
            </a:r>
            <a:endParaRPr lang="en-US" sz="5200" dirty="0"/>
          </a:p>
          <a:p>
            <a:pPr marL="0" indent="0">
              <a:buNone/>
              <a:defRPr>
                <a:latin typeface="Calibri"/>
              </a:defRPr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System</a:t>
            </a:r>
            <a:endParaRPr lang="en-US" sz="5200" dirty="0"/>
          </a:p>
        </p:txBody>
      </p:sp>
      <p:sp>
        <p:nvSpPr>
          <p:cNvPr id="9" name="Shape 6"/>
          <p:cNvSpPr/>
          <p:nvPr/>
        </p:nvSpPr>
        <p:spPr>
          <a:xfrm>
            <a:off x="502920" y="2944368"/>
            <a:ext cx="3474720" cy="0"/>
          </a:xfrm>
          <a:prstGeom prst="line">
            <a:avLst/>
          </a:prstGeom>
          <a:noFill/>
          <a:ln w="12700">
            <a:solidFill>
              <a:srgbClr val="C4854A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10" name="Text 7"/>
          <p:cNvSpPr/>
          <p:nvPr/>
        </p:nvSpPr>
        <p:spPr>
          <a:xfrm>
            <a:off x="502920" y="3090672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Kali Javetski  &amp;  Sylvia Burroughs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" y="358444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1200" dirty="0">
                <a:solidFill>
                  <a:srgbClr val="A8D5A2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CSC-343 AI  ·  Spring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809744"/>
            <a:ext cx="9144000" cy="54864"/>
          </a:xfrm>
          <a:prstGeom prst="rect">
            <a:avLst/>
          </a:prstGeom>
          <a:solidFill>
            <a:srgbClr val="B87040"/>
          </a:solidFill>
          <a:ln w="12700">
            <a:solidFill>
              <a:srgbClr val="B87040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12700">
            <a:solidFill>
              <a:srgbClr val="B87040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Coaches make lineup decisions before every game —</a:t>
            </a:r>
            <a:endParaRPr lang="en-US" sz="2600" dirty="0"/>
          </a:p>
          <a:p>
            <a:pPr marL="0" indent="0">
              <a:buNone/>
              <a:defRPr>
                <a:latin typeface="Calibri"/>
              </a:defRPr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who plays where, and who bats when.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75488" y="2542032"/>
            <a:ext cx="118872" cy="118872"/>
          </a:xfrm>
          <a:prstGeom prst="ellipse">
            <a:avLst/>
          </a:prstGeom>
          <a:solidFill>
            <a:srgbClr val="C4854A"/>
          </a:solidFill>
          <a:ln w="12700">
            <a:solidFill>
              <a:srgbClr val="C4854A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713232" y="2487168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1500" dirty="0">
                <a:solidFill>
                  <a:srgbClr val="F5F0E8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Nine positions to fill, with players who can only play certain spots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" y="3054096"/>
            <a:ext cx="118872" cy="118872"/>
          </a:xfrm>
          <a:prstGeom prst="ellipse">
            <a:avLst/>
          </a:prstGeom>
          <a:solidFill>
            <a:srgbClr val="C4854A"/>
          </a:solidFill>
          <a:ln w="12700">
            <a:solidFill>
              <a:srgbClr val="C4854A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10" name="Text 8"/>
          <p:cNvSpPr/>
          <p:nvPr/>
        </p:nvSpPr>
        <p:spPr>
          <a:xfrm>
            <a:off x="713232" y="2999232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1500" dirty="0">
                <a:solidFill>
                  <a:srgbClr val="F5F0E8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Batting order affects run production across all nine innings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5488" y="3566160"/>
            <a:ext cx="118872" cy="118872"/>
          </a:xfrm>
          <a:prstGeom prst="ellipse">
            <a:avLst/>
          </a:prstGeom>
          <a:solidFill>
            <a:srgbClr val="C4854A"/>
          </a:solidFill>
          <a:ln w="12700">
            <a:solidFill>
              <a:srgbClr val="C4854A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12" name="Text 10"/>
          <p:cNvSpPr/>
          <p:nvPr/>
        </p:nvSpPr>
        <p:spPr>
          <a:xfrm>
            <a:off x="713232" y="3511296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1500" dirty="0">
                <a:solidFill>
                  <a:srgbClr val="F5F0E8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Matchups against the opposing pitcher change the calculus every game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5488" y="4078224"/>
            <a:ext cx="118872" cy="118872"/>
          </a:xfrm>
          <a:prstGeom prst="ellipse">
            <a:avLst/>
          </a:prstGeom>
          <a:solidFill>
            <a:srgbClr val="C4854A"/>
          </a:solidFill>
          <a:ln w="12700">
            <a:solidFill>
              <a:srgbClr val="C4854A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14" name="Text 12"/>
          <p:cNvSpPr/>
          <p:nvPr/>
        </p:nvSpPr>
        <p:spPr>
          <a:xfrm>
            <a:off x="713232" y="4023360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1500" dirty="0">
                <a:solidFill>
                  <a:srgbClr val="F5F0E8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Mid-game substitutions add another layer of real-time decisions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809744"/>
            <a:ext cx="9144000" cy="54864"/>
          </a:xfrm>
          <a:prstGeom prst="rect">
            <a:avLst/>
          </a:prstGeom>
          <a:solidFill>
            <a:srgbClr val="B87040"/>
          </a:solidFill>
          <a:ln w="12700">
            <a:solidFill>
              <a:srgbClr val="B87040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Our System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12700">
            <a:solidFill>
              <a:srgbClr val="B87040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9692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1300" i="1" dirty="0">
                <a:solidFill>
                  <a:srgbClr val="A8D5A2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A five-module pipeline — each stage feeds the next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3464" y="1737360"/>
            <a:ext cx="1005840" cy="1005840"/>
          </a:xfrm>
          <a:prstGeom prst="rect">
            <a:avLst/>
          </a:prstGeom>
          <a:solidFill>
            <a:srgbClr val="1A3A1A"/>
          </a:solidFill>
          <a:ln w="12700">
            <a:solidFill>
              <a:srgbClr val="C4854A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283464" y="181051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latin typeface="Calibri"/>
              </a:defRPr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Stats</a:t>
            </a:r>
            <a:endParaRPr lang="en-US" sz="1100" dirty="0"/>
          </a:p>
          <a:p>
            <a:pPr marL="0" indent="0" algn="ctr">
              <a:buNone/>
              <a:defRPr>
                <a:latin typeface="Calibri"/>
              </a:defRPr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Input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" y="23042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latin typeface="Calibri"/>
              </a:defRPr>
            </a:pPr>
            <a:r>
              <a:rPr lang="en-US" sz="900" i="1" dirty="0">
                <a:solidFill>
                  <a:srgbClr val="A8D5A2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CSV / JSON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89304" y="2240280"/>
            <a:ext cx="256032" cy="0"/>
          </a:xfrm>
          <a:prstGeom prst="line">
            <a:avLst/>
          </a:prstGeom>
          <a:noFill/>
          <a:ln w="12700">
            <a:solidFill>
              <a:srgbClr val="C4854A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11" name="Shape 9"/>
          <p:cNvSpPr/>
          <p:nvPr/>
        </p:nvSpPr>
        <p:spPr>
          <a:xfrm>
            <a:off x="1453896" y="2176272"/>
            <a:ext cx="91440" cy="128016"/>
          </a:xfrm>
          <a:prstGeom prst="rect">
            <a:avLst/>
          </a:prstGeom>
          <a:solidFill>
            <a:srgbClr val="C4854A"/>
          </a:solidFill>
          <a:ln w="12700">
            <a:solidFill>
              <a:srgbClr val="C4854A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545336" y="1737360"/>
            <a:ext cx="1005840" cy="1005840"/>
          </a:xfrm>
          <a:prstGeom prst="rect">
            <a:avLst/>
          </a:prstGeom>
          <a:solidFill>
            <a:srgbClr val="2A4A1A"/>
          </a:solidFill>
          <a:ln w="12700">
            <a:solidFill>
              <a:srgbClr val="C4854A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13" name="Text 11"/>
          <p:cNvSpPr/>
          <p:nvPr/>
        </p:nvSpPr>
        <p:spPr>
          <a:xfrm>
            <a:off x="1545336" y="181051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latin typeface="Calibri"/>
              </a:defRPr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FOL</a:t>
            </a:r>
            <a:endParaRPr lang="en-US" sz="1100" dirty="0"/>
          </a:p>
          <a:p>
            <a:pPr marL="0" indent="0" algn="ctr">
              <a:buNone/>
              <a:defRPr>
                <a:latin typeface="Calibri"/>
              </a:defRPr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M1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45336" y="23042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latin typeface="Calibri"/>
              </a:defRPr>
            </a:pPr>
            <a:r>
              <a:rPr lang="en-US" sz="900" i="1" dirty="0">
                <a:solidFill>
                  <a:srgbClr val="A8D5A2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Matchup scores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51176" y="2240280"/>
            <a:ext cx="256032" cy="0"/>
          </a:xfrm>
          <a:prstGeom prst="line">
            <a:avLst/>
          </a:prstGeom>
          <a:noFill/>
          <a:ln w="12700">
            <a:solidFill>
              <a:srgbClr val="C4854A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16" name="Shape 14"/>
          <p:cNvSpPr/>
          <p:nvPr/>
        </p:nvSpPr>
        <p:spPr>
          <a:xfrm>
            <a:off x="2715768" y="2176272"/>
            <a:ext cx="91440" cy="128016"/>
          </a:xfrm>
          <a:prstGeom prst="rect">
            <a:avLst/>
          </a:prstGeom>
          <a:solidFill>
            <a:srgbClr val="C4854A"/>
          </a:solidFill>
          <a:ln w="12700">
            <a:solidFill>
              <a:srgbClr val="C4854A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17" name="Shape 15"/>
          <p:cNvSpPr/>
          <p:nvPr/>
        </p:nvSpPr>
        <p:spPr>
          <a:xfrm>
            <a:off x="2807208" y="1737360"/>
            <a:ext cx="1005840" cy="1005840"/>
          </a:xfrm>
          <a:prstGeom prst="rect">
            <a:avLst/>
          </a:prstGeom>
          <a:solidFill>
            <a:srgbClr val="1A3A2A"/>
          </a:solidFill>
          <a:ln w="12700">
            <a:solidFill>
              <a:srgbClr val="C4854A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18" name="Text 16"/>
          <p:cNvSpPr/>
          <p:nvPr/>
        </p:nvSpPr>
        <p:spPr>
          <a:xfrm>
            <a:off x="2807208" y="181051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latin typeface="Calibri"/>
              </a:defRPr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Knowledge</a:t>
            </a:r>
            <a:endParaRPr lang="en-US" sz="1100" dirty="0"/>
          </a:p>
          <a:p>
            <a:pPr marL="0" indent="0" algn="ctr">
              <a:buNone/>
              <a:defRPr>
                <a:latin typeface="Calibri"/>
              </a:defRPr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Base M2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07208" y="23042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latin typeface="Calibri"/>
              </a:defRPr>
            </a:pPr>
            <a:r>
              <a:rPr lang="en-US" sz="900" i="1" dirty="0">
                <a:solidFill>
                  <a:srgbClr val="A8D5A2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Defensive scores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13048" y="2240280"/>
            <a:ext cx="256032" cy="0"/>
          </a:xfrm>
          <a:prstGeom prst="line">
            <a:avLst/>
          </a:prstGeom>
          <a:noFill/>
          <a:ln w="12700">
            <a:solidFill>
              <a:srgbClr val="C4854A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21" name="Shape 19"/>
          <p:cNvSpPr/>
          <p:nvPr/>
        </p:nvSpPr>
        <p:spPr>
          <a:xfrm>
            <a:off x="3977640" y="2176272"/>
            <a:ext cx="91440" cy="128016"/>
          </a:xfrm>
          <a:prstGeom prst="rect">
            <a:avLst/>
          </a:prstGeom>
          <a:solidFill>
            <a:srgbClr val="C4854A"/>
          </a:solidFill>
          <a:ln w="12700">
            <a:solidFill>
              <a:srgbClr val="C4854A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069080" y="1737360"/>
            <a:ext cx="1005840" cy="1005840"/>
          </a:xfrm>
          <a:prstGeom prst="rect">
            <a:avLst/>
          </a:prstGeom>
          <a:solidFill>
            <a:srgbClr val="1A2A3A"/>
          </a:solidFill>
          <a:ln w="12700">
            <a:solidFill>
              <a:srgbClr val="C4854A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23" name="Text 21"/>
          <p:cNvSpPr/>
          <p:nvPr/>
        </p:nvSpPr>
        <p:spPr>
          <a:xfrm>
            <a:off x="4069080" y="181051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latin typeface="Calibri"/>
              </a:defRPr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CSP</a:t>
            </a:r>
            <a:endParaRPr lang="en-US" sz="1100" dirty="0"/>
          </a:p>
          <a:p>
            <a:pPr marL="0" indent="0" algn="ctr">
              <a:buNone/>
              <a:defRPr>
                <a:latin typeface="Calibri"/>
              </a:defRPr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M3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69080" y="23042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latin typeface="Calibri"/>
              </a:defRPr>
            </a:pPr>
            <a:r>
              <a:rPr lang="en-US" sz="900" i="1" dirty="0">
                <a:solidFill>
                  <a:srgbClr val="A8D5A2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Field assignment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74920" y="2240280"/>
            <a:ext cx="256032" cy="0"/>
          </a:xfrm>
          <a:prstGeom prst="line">
            <a:avLst/>
          </a:prstGeom>
          <a:noFill/>
          <a:ln w="12700">
            <a:solidFill>
              <a:srgbClr val="C4854A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239512" y="2176272"/>
            <a:ext cx="91440" cy="128016"/>
          </a:xfrm>
          <a:prstGeom prst="rect">
            <a:avLst/>
          </a:prstGeom>
          <a:solidFill>
            <a:srgbClr val="C4854A"/>
          </a:solidFill>
          <a:ln w="12700">
            <a:solidFill>
              <a:srgbClr val="C4854A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27" name="Shape 25"/>
          <p:cNvSpPr/>
          <p:nvPr/>
        </p:nvSpPr>
        <p:spPr>
          <a:xfrm>
            <a:off x="5330952" y="1737360"/>
            <a:ext cx="1005840" cy="1005840"/>
          </a:xfrm>
          <a:prstGeom prst="rect">
            <a:avLst/>
          </a:prstGeom>
          <a:solidFill>
            <a:srgbClr val="2A1A3A"/>
          </a:solidFill>
          <a:ln w="12700">
            <a:solidFill>
              <a:srgbClr val="C4854A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28" name="Text 26"/>
          <p:cNvSpPr/>
          <p:nvPr/>
        </p:nvSpPr>
        <p:spPr>
          <a:xfrm>
            <a:off x="5330952" y="181051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latin typeface="Calibri"/>
              </a:defRPr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Genetic</a:t>
            </a:r>
            <a:endParaRPr lang="en-US" sz="1100" dirty="0"/>
          </a:p>
          <a:p>
            <a:pPr marL="0" indent="0" algn="ctr">
              <a:buNone/>
              <a:defRPr>
                <a:latin typeface="Calibri"/>
              </a:defRPr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Alg. M4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30952" y="23042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latin typeface="Calibri"/>
              </a:defRPr>
            </a:pPr>
            <a:r>
              <a:rPr lang="en-US" sz="900" i="1" dirty="0">
                <a:solidFill>
                  <a:srgbClr val="A8D5A2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Batting order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36792" y="2240280"/>
            <a:ext cx="256032" cy="0"/>
          </a:xfrm>
          <a:prstGeom prst="line">
            <a:avLst/>
          </a:prstGeom>
          <a:noFill/>
          <a:ln w="12700">
            <a:solidFill>
              <a:srgbClr val="C4854A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31" name="Shape 29"/>
          <p:cNvSpPr/>
          <p:nvPr/>
        </p:nvSpPr>
        <p:spPr>
          <a:xfrm>
            <a:off x="6501384" y="2176272"/>
            <a:ext cx="91440" cy="128016"/>
          </a:xfrm>
          <a:prstGeom prst="rect">
            <a:avLst/>
          </a:prstGeom>
          <a:solidFill>
            <a:srgbClr val="C4854A"/>
          </a:solidFill>
          <a:ln w="12700">
            <a:solidFill>
              <a:srgbClr val="C4854A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32" name="Shape 30"/>
          <p:cNvSpPr/>
          <p:nvPr/>
        </p:nvSpPr>
        <p:spPr>
          <a:xfrm>
            <a:off x="6592824" y="1737360"/>
            <a:ext cx="1005840" cy="1005840"/>
          </a:xfrm>
          <a:prstGeom prst="rect">
            <a:avLst/>
          </a:prstGeom>
          <a:solidFill>
            <a:srgbClr val="3A1A1A"/>
          </a:solidFill>
          <a:ln w="12700">
            <a:solidFill>
              <a:srgbClr val="C4854A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33" name="Text 31"/>
          <p:cNvSpPr/>
          <p:nvPr/>
        </p:nvSpPr>
        <p:spPr>
          <a:xfrm>
            <a:off x="6592824" y="181051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latin typeface="Calibri"/>
              </a:defRPr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Planning</a:t>
            </a:r>
            <a:endParaRPr lang="en-US" sz="1100" dirty="0"/>
          </a:p>
          <a:p>
            <a:pPr marL="0" indent="0" algn="ctr">
              <a:buNone/>
              <a:defRPr>
                <a:latin typeface="Calibri"/>
              </a:defRPr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M5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92824" y="23042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latin typeface="Calibri"/>
              </a:defRPr>
            </a:pPr>
            <a:r>
              <a:rPr lang="en-US" sz="900" i="1" dirty="0">
                <a:solidFill>
                  <a:srgbClr val="A8D5A2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In-game moves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598664" y="2240280"/>
            <a:ext cx="256032" cy="0"/>
          </a:xfrm>
          <a:prstGeom prst="line">
            <a:avLst/>
          </a:prstGeom>
          <a:noFill/>
          <a:ln w="12700">
            <a:solidFill>
              <a:srgbClr val="C4854A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36" name="Shape 34"/>
          <p:cNvSpPr/>
          <p:nvPr/>
        </p:nvSpPr>
        <p:spPr>
          <a:xfrm>
            <a:off x="7763256" y="2176272"/>
            <a:ext cx="91440" cy="128016"/>
          </a:xfrm>
          <a:prstGeom prst="rect">
            <a:avLst/>
          </a:prstGeom>
          <a:solidFill>
            <a:srgbClr val="C4854A"/>
          </a:solidFill>
          <a:ln w="12700">
            <a:solidFill>
              <a:srgbClr val="C4854A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854696" y="1737360"/>
            <a:ext cx="1005840" cy="1005840"/>
          </a:xfrm>
          <a:prstGeom prst="rect">
            <a:avLst/>
          </a:prstGeom>
          <a:solidFill>
            <a:srgbClr val="B87040"/>
          </a:solidFill>
          <a:ln w="12700">
            <a:solidFill>
              <a:srgbClr val="C4854A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38" name="Text 36"/>
          <p:cNvSpPr/>
          <p:nvPr/>
        </p:nvSpPr>
        <p:spPr>
          <a:xfrm>
            <a:off x="7854696" y="181051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latin typeface="Calibri"/>
              </a:defRPr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Final</a:t>
            </a:r>
            <a:endParaRPr lang="en-US" sz="1100" dirty="0"/>
          </a:p>
          <a:p>
            <a:pPr marL="0" indent="0" algn="ctr">
              <a:buNone/>
              <a:defRPr>
                <a:latin typeface="Calibri"/>
              </a:defRPr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Lineup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854696" y="23042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latin typeface="Calibri"/>
              </a:defRPr>
            </a:pPr>
            <a:r>
              <a:rPr lang="en-US" sz="900" i="1" dirty="0">
                <a:solidFill>
                  <a:srgbClr val="A8D5A2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Ready to play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2245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latin typeface="Calibri"/>
              </a:defRPr>
            </a:pPr>
            <a:r>
              <a:rPr lang="en-US" sz="1200" i="1" dirty="0">
                <a:solidFill>
                  <a:srgbClr val="A8D5A2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Every module exposes its reasoning — rules fired, constraints satisfied, fitness values, tactical reasons.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4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5" name="Shape 2"/>
          <p:cNvSpPr/>
          <p:nvPr/>
        </p:nvSpPr>
        <p:spPr>
          <a:xfrm>
            <a:off x="0" y="4809744"/>
            <a:ext cx="9144000" cy="54864"/>
          </a:xfrm>
          <a:prstGeom prst="rect">
            <a:avLst/>
          </a:prstGeom>
          <a:solidFill>
            <a:srgbClr val="B87040"/>
          </a:solidFill>
          <a:ln w="12700">
            <a:solidFill>
              <a:srgbClr val="B87040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latin typeface="Calibri"/>
              </a:defRPr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Demo</a:t>
            </a:r>
            <a:endParaRPr lang="en-US" sz="7200" dirty="0"/>
          </a:p>
        </p:txBody>
      </p:sp>
      <p:sp>
        <p:nvSpPr>
          <p:cNvPr id="7" name="Shape 4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2700">
            <a:solidFill>
              <a:srgbClr val="C4854A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8" name="Text 5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latin typeface="Calibri"/>
              </a:defRPr>
            </a:pPr>
            <a:r>
              <a:rPr lang="en-US" sz="1800" i="1" dirty="0">
                <a:solidFill>
                  <a:srgbClr val="A8D5A2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Dashboard walkthrough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809744"/>
            <a:ext cx="9144000" cy="54864"/>
          </a:xfrm>
          <a:prstGeom prst="rect">
            <a:avLst/>
          </a:prstGeom>
          <a:solidFill>
            <a:srgbClr val="B87040"/>
          </a:solidFill>
          <a:ln w="12700">
            <a:solidFill>
              <a:srgbClr val="B87040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Module 1  —  First-Order Logic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12700">
            <a:solidFill>
              <a:srgbClr val="B87040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9692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1300" i="1" dirty="0">
                <a:solidFill>
                  <a:srgbClr val="A8D5A2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How good is this batter against today’s pitcher?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91056"/>
            <a:ext cx="54864" cy="822960"/>
          </a:xfrm>
          <a:prstGeom prst="rect">
            <a:avLst/>
          </a:prstGeom>
          <a:solidFill>
            <a:srgbClr val="B87040"/>
          </a:solidFill>
          <a:ln w="12700">
            <a:solidFill>
              <a:srgbClr val="B87040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658368" y="1481328"/>
            <a:ext cx="4114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Quantified if/then rules over batter &amp; pitcher stats — handedness, OBP, SLG, ERA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29768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54864" cy="822960"/>
          </a:xfrm>
          <a:prstGeom prst="rect">
            <a:avLst/>
          </a:prstGeom>
          <a:solidFill>
            <a:srgbClr val="B87040"/>
          </a:solidFill>
          <a:ln w="12700">
            <a:solidFill>
              <a:srgbClr val="B87040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11" name="Text 9"/>
          <p:cNvSpPr/>
          <p:nvPr/>
        </p:nvSpPr>
        <p:spPr>
          <a:xfrm>
            <a:off x="658368" y="2871216"/>
            <a:ext cx="4114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Produces a 0–100 matchup score for every batter, no prior head-to-head data needed</a:t>
            </a:r>
            <a:endParaRPr lang="en-US" sz="16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74920" y="1078992"/>
            <a:ext cx="3840480" cy="35478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809744"/>
            <a:ext cx="9144000" cy="54864"/>
          </a:xfrm>
          <a:prstGeom prst="rect">
            <a:avLst/>
          </a:prstGeom>
          <a:solidFill>
            <a:srgbClr val="B87040"/>
          </a:solidFill>
          <a:ln w="12700">
            <a:solidFill>
              <a:srgbClr val="B87040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Module 2  —  Knowledge Base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12700">
            <a:solidFill>
              <a:srgbClr val="B87040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9692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1300" i="1" dirty="0">
                <a:solidFill>
                  <a:srgbClr val="A8D5A2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Who is actually good at each position?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91056"/>
            <a:ext cx="54864" cy="822960"/>
          </a:xfrm>
          <a:prstGeom prst="rect">
            <a:avLst/>
          </a:prstGeom>
          <a:solidFill>
            <a:srgbClr val="B87040"/>
          </a:solidFill>
          <a:ln w="12700">
            <a:solidFill>
              <a:srgbClr val="B87040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658368" y="1481328"/>
            <a:ext cx="4114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Position-specific rule sets — catchers judged on caught stealing, outfielders on range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29768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54864" cy="822960"/>
          </a:xfrm>
          <a:prstGeom prst="rect">
            <a:avLst/>
          </a:prstGeom>
          <a:solidFill>
            <a:srgbClr val="B87040"/>
          </a:solidFill>
          <a:ln w="12700">
            <a:solidFill>
              <a:srgbClr val="B87040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11" name="Text 9"/>
          <p:cNvSpPr/>
          <p:nvPr/>
        </p:nvSpPr>
        <p:spPr>
          <a:xfrm>
            <a:off x="658368" y="2871216"/>
            <a:ext cx="4114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Outputs a score matrix: every player rated at every eligible position</a:t>
            </a:r>
            <a:endParaRPr lang="en-US" sz="16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74920" y="1078992"/>
            <a:ext cx="3840480" cy="35478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809744"/>
            <a:ext cx="9144000" cy="54864"/>
          </a:xfrm>
          <a:prstGeom prst="rect">
            <a:avLst/>
          </a:prstGeom>
          <a:solidFill>
            <a:srgbClr val="B87040"/>
          </a:solidFill>
          <a:ln w="12700">
            <a:solidFill>
              <a:srgbClr val="B87040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Module 3  —  Constraint Satisfaction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12700">
            <a:solidFill>
              <a:srgbClr val="B87040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9692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1300" i="1" dirty="0">
                <a:solidFill>
                  <a:srgbClr val="A8D5A2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Who plays where — legally, and as well as possible?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91056"/>
            <a:ext cx="54864" cy="822960"/>
          </a:xfrm>
          <a:prstGeom prst="rect">
            <a:avLst/>
          </a:prstGeom>
          <a:solidFill>
            <a:srgbClr val="B87040"/>
          </a:solidFill>
          <a:ln w="12700">
            <a:solidFill>
              <a:srgbClr val="B87040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658368" y="1481328"/>
            <a:ext cx="4114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Hard constraints enforced: one player per position, eligibility respected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29768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54864" cy="822960"/>
          </a:xfrm>
          <a:prstGeom prst="rect">
            <a:avLst/>
          </a:prstGeom>
          <a:solidFill>
            <a:srgbClr val="B87040"/>
          </a:solidFill>
          <a:ln w="12700">
            <a:solidFill>
              <a:srgbClr val="B87040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11" name="Text 9"/>
          <p:cNvSpPr/>
          <p:nvPr/>
        </p:nvSpPr>
        <p:spPr>
          <a:xfrm>
            <a:off x="658368" y="2871216"/>
            <a:ext cx="4114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Backtracking search with MRV heuristic; optimizes blended offense + defense score</a:t>
            </a:r>
            <a:endParaRPr lang="en-US" sz="16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74920" y="1078992"/>
            <a:ext cx="3840480" cy="35478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809744"/>
            <a:ext cx="9144000" cy="54864"/>
          </a:xfrm>
          <a:prstGeom prst="rect">
            <a:avLst/>
          </a:prstGeom>
          <a:solidFill>
            <a:srgbClr val="B87040"/>
          </a:solidFill>
          <a:ln w="12700">
            <a:solidFill>
              <a:srgbClr val="B87040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Module 4  —  Genetic Algorithm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12700">
            <a:solidFill>
              <a:srgbClr val="B87040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9692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1300" i="1" dirty="0">
                <a:solidFill>
                  <a:srgbClr val="A8D5A2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What’s the best batting order for these nine players?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91056"/>
            <a:ext cx="54864" cy="822960"/>
          </a:xfrm>
          <a:prstGeom prst="rect">
            <a:avLst/>
          </a:prstGeom>
          <a:solidFill>
            <a:srgbClr val="B87040"/>
          </a:solidFill>
          <a:ln w="12700">
            <a:solidFill>
              <a:srgbClr val="B87040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658368" y="1481328"/>
            <a:ext cx="4114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9! = 362,880 possible orders — evolves good lineups across generations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29768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54864" cy="822960"/>
          </a:xfrm>
          <a:prstGeom prst="rect">
            <a:avLst/>
          </a:prstGeom>
          <a:solidFill>
            <a:srgbClr val="B87040"/>
          </a:solidFill>
          <a:ln w="12700">
            <a:solidFill>
              <a:srgbClr val="B87040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11" name="Text 9"/>
          <p:cNvSpPr/>
          <p:nvPr/>
        </p:nvSpPr>
        <p:spPr>
          <a:xfrm>
            <a:off x="658368" y="2871216"/>
            <a:ext cx="4114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Fitness rewards table setters early (OBP), power in the middle (SLG/HR)</a:t>
            </a:r>
            <a:endParaRPr lang="en-US" sz="16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74920" y="1078992"/>
            <a:ext cx="3840480" cy="35478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809744"/>
            <a:ext cx="9144000" cy="54864"/>
          </a:xfrm>
          <a:prstGeom prst="rect">
            <a:avLst/>
          </a:prstGeom>
          <a:solidFill>
            <a:srgbClr val="B87040"/>
          </a:solidFill>
          <a:ln w="12700">
            <a:solidFill>
              <a:srgbClr val="B87040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Module 5  —  Planning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12700">
            <a:solidFill>
              <a:srgbClr val="B87040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9692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1300" i="1" dirty="0">
                <a:solidFill>
                  <a:srgbClr val="A8D5A2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What should we do right now, given the score and the bench?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91056"/>
            <a:ext cx="54864" cy="822960"/>
          </a:xfrm>
          <a:prstGeom prst="rect">
            <a:avLst/>
          </a:prstGeom>
          <a:solidFill>
            <a:srgbClr val="B87040"/>
          </a:solidFill>
          <a:ln w="12700">
            <a:solidFill>
              <a:srgbClr val="B87040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658368" y="1481328"/>
            <a:ext cx="4114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Reads live game state: inning, score, outs, bases, substitution limits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29768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54864" cy="822960"/>
          </a:xfrm>
          <a:prstGeom prst="rect">
            <a:avLst/>
          </a:prstGeom>
          <a:solidFill>
            <a:srgbClr val="B87040"/>
          </a:solidFill>
          <a:ln w="12700">
            <a:solidFill>
              <a:srgbClr val="B87040"/>
            </a:solidFill>
            <a:prstDash val="solid"/>
          </a:ln>
        </p:spPr>
        <p:txBody>
          <a:bodyPr/>
          <a:lstStyle/>
          <a:p>
            <a:pPr>
              <a:defRPr>
                <a:latin typeface="Calibri"/>
              </a:defRPr>
            </a:pPr>
            <a:endParaRPr/>
          </a:p>
        </p:txBody>
      </p:sp>
      <p:sp>
        <p:nvSpPr>
          <p:cNvPr id="11" name="Text 9"/>
          <p:cNvSpPr/>
          <p:nvPr/>
        </p:nvSpPr>
        <p:spPr>
          <a:xfrm>
            <a:off x="658368" y="2871216"/>
            <a:ext cx="4114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latin typeface="Calibri"/>
              </a:defRPr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Palatino Linotype" pitchFamily="34" charset="-122"/>
                <a:cs typeface="Palatino Linotype" pitchFamily="34" charset="-120"/>
              </a:rPr>
              <a:t>Returns ranked, explainable recommendations — pinch hit, defensive swap, outlook</a:t>
            </a:r>
            <a:endParaRPr lang="en-US" sz="16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74920" y="1078992"/>
            <a:ext cx="3840480" cy="35478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363</Words>
  <Application>Microsoft Macintosh PowerPoint</Application>
  <PresentationFormat>On-screen Show (16:9)</PresentationFormat>
  <Paragraphs>67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Baseball/Softball Lineup Optimization System</dc:title>
  <dc:subject>PptxGenJS Presentation</dc:subject>
  <dc:creator>PptxGenJS</dc:creator>
  <cp:lastModifiedBy>Kali Javetski6-Student</cp:lastModifiedBy>
  <cp:revision>1</cp:revision>
  <dcterms:created xsi:type="dcterms:W3CDTF">2026-04-20T14:17:18Z</dcterms:created>
  <dcterms:modified xsi:type="dcterms:W3CDTF">2026-04-20T18:27:53Z</dcterms:modified>
</cp:coreProperties>
</file>